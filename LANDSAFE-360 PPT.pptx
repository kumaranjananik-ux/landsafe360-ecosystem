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22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750000"/>
            <a:ext cx="6000000" cy="4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r>
              <a:rPr lang="en-US" sz="220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NEXORA01</a:t>
            </a:r>
            <a:endParaRPr lang="en-US" sz="2200" dirty="0"/>
          </a:p>
          <a:p>
            <a:pPr marL="0" indent="0" algn="l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NO: </a:t>
            </a:r>
            <a:r>
              <a:rPr lang="en-US" sz="220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PSA04</a:t>
            </a:r>
            <a:endParaRPr lang="en-US" sz="2200" dirty="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</a:t>
            </a:r>
            <a:r>
              <a:rPr lang="en-US" sz="22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Landslide Prediction, Early Warning &amp; Safe Evacuation</a:t>
            </a:r>
            <a:endParaRPr lang="en-US" sz="2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Category: </a:t>
            </a:r>
            <a:r>
              <a:rPr lang="en-US" sz="22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9" name="Card 9"/>
          <p:cNvSpPr/>
          <p:nvPr/>
        </p:nvSpPr>
        <p:spPr>
          <a:xfrm>
            <a:off x="457200" y="2050000"/>
            <a:ext cx="4950000" cy="3950000"/>
          </a:xfrm>
          <a:prstGeom prst="roundRect">
            <a:avLst>
              <a:gd name="adj" fmla="val 3500"/>
            </a:avLst>
          </a:prstGeom>
          <a:noFill/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0" name="Card 10"/>
          <p:cNvSpPr/>
          <p:nvPr/>
        </p:nvSpPr>
        <p:spPr>
          <a:xfrm>
            <a:off x="5657200" y="2050000"/>
            <a:ext cx="5000000" cy="3950000"/>
          </a:xfrm>
          <a:prstGeom prst="roundRect">
            <a:avLst>
              <a:gd name="adj" fmla="val 3500"/>
            </a:avLst>
          </a:prstGeom>
          <a:noFill/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1" name="Text 11"/>
          <p:cNvSpPr/>
          <p:nvPr/>
        </p:nvSpPr>
        <p:spPr>
          <a:xfrm>
            <a:off x="607200" y="2150000"/>
            <a:ext cx="465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problem</a:t>
            </a:r>
            <a:endParaRPr lang="en-US" sz="2000" dirty="0"/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Landslides in the Western Ghats (Wayanad) and the Himalayas (Himachal, Uttarakhand) kill people, displace communities and cut lifeline roads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000" dirty="0"/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say an area might slide, never why — so tactical response stalls, evacuees cross active runout paths, and no one knows who is safe</a:t>
            </a:r>
            <a:endParaRPr lang="en-US" sz="1600" dirty="0"/>
          </a:p>
        </p:txBody>
      </p:sp>
      <p:sp>
        <p:nvSpPr>
          <p:cNvPr id="12" name="Text 12"/>
          <p:cNvSpPr/>
          <p:nvPr/>
        </p:nvSpPr>
        <p:spPr>
          <a:xfrm>
            <a:off x="5807200" y="2150000"/>
            <a:ext cx="470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20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Isolated, static data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scattered rain gauges, delayed bulletins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alerts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cause, no context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vulnerability priority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elderly, disabled, children unseen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evacuation routing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slide runout zones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Missing-persons void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live safe headcount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distrust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raw GPS &amp; biometrics deter consent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9" name="Text 9"/>
          <p:cNvSpPr/>
          <p:nvPr/>
        </p:nvSpPr>
        <p:spPr>
          <a:xfrm>
            <a:off x="457200" y="2000000"/>
            <a:ext cx="10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name: </a:t>
            </a:r>
            <a:r>
              <a:rPr lang="en-US" sz="18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LANDSAFE 360</a:t>
            </a:r>
            <a:endParaRPr lang="en-US" sz="18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solution: </a:t>
            </a:r>
            <a:r>
              <a:rPr lang="en-US" sz="18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AI disaster-reduction ecosystem on a 6-stage life-safety lifecycle.</a:t>
            </a:r>
            <a:endParaRPr lang="en-US" sz="1800" dirty="0"/>
          </a:p>
        </p:txBody>
      </p:sp>
      <p:sp>
        <p:nvSpPr>
          <p:cNvPr id="10" name="Stage 10"/>
          <p:cNvSpPr/>
          <p:nvPr/>
        </p:nvSpPr>
        <p:spPr>
          <a:xfrm>
            <a:off x="457200" y="3000000"/>
            <a:ext cx="1860000" cy="560000"/>
          </a:xfrm>
          <a:prstGeom prst="homePlate">
            <a:avLst>
              <a:gd name="adj" fmla="val 30000"/>
            </a:avLst>
          </a:prstGeom>
          <a:solidFill>
            <a:srgbClr val="1B3A8B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400" dirty="0"/>
          </a:p>
        </p:txBody>
      </p:sp>
      <p:sp>
        <p:nvSpPr>
          <p:cNvPr id="11" name="Stage 11"/>
          <p:cNvSpPr/>
          <p:nvPr/>
        </p:nvSpPr>
        <p:spPr>
          <a:xfrm>
            <a:off x="2137200" y="3000000"/>
            <a:ext cx="1860000" cy="560000"/>
          </a:xfrm>
          <a:prstGeom prst="homePlate">
            <a:avLst>
              <a:gd name="adj" fmla="val 30000"/>
            </a:avLst>
          </a:prstGeom>
          <a:solidFill>
            <a:srgbClr val="1B2A4A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</a:t>
            </a:r>
            <a:endParaRPr lang="en-US" sz="1400" dirty="0"/>
          </a:p>
        </p:txBody>
      </p:sp>
      <p:sp>
        <p:nvSpPr>
          <p:cNvPr id="12" name="Stage 12"/>
          <p:cNvSpPr/>
          <p:nvPr/>
        </p:nvSpPr>
        <p:spPr>
          <a:xfrm>
            <a:off x="3817200" y="3000000"/>
            <a:ext cx="1860000" cy="560000"/>
          </a:xfrm>
          <a:prstGeom prst="homePlate">
            <a:avLst>
              <a:gd name="adj" fmla="val 30000"/>
            </a:avLst>
          </a:prstGeom>
          <a:solidFill>
            <a:srgbClr val="1B3A8B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13" name="Stage 13"/>
          <p:cNvSpPr/>
          <p:nvPr/>
        </p:nvSpPr>
        <p:spPr>
          <a:xfrm>
            <a:off x="5497200" y="3000000"/>
            <a:ext cx="1860000" cy="560000"/>
          </a:xfrm>
          <a:prstGeom prst="homePlate">
            <a:avLst>
              <a:gd name="adj" fmla="val 30000"/>
            </a:avLst>
          </a:prstGeom>
          <a:solidFill>
            <a:srgbClr val="1B2A4A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1400" dirty="0"/>
          </a:p>
        </p:txBody>
      </p:sp>
      <p:sp>
        <p:nvSpPr>
          <p:cNvPr id="14" name="Stage 14"/>
          <p:cNvSpPr/>
          <p:nvPr/>
        </p:nvSpPr>
        <p:spPr>
          <a:xfrm>
            <a:off x="7177200" y="3000000"/>
            <a:ext cx="1860000" cy="560000"/>
          </a:xfrm>
          <a:prstGeom prst="homePlate">
            <a:avLst>
              <a:gd name="adj" fmla="val 30000"/>
            </a:avLst>
          </a:prstGeom>
          <a:solidFill>
            <a:srgbClr val="1B3A8B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400" dirty="0"/>
          </a:p>
        </p:txBody>
      </p:sp>
      <p:sp>
        <p:nvSpPr>
          <p:cNvPr id="15" name="Stage 15"/>
          <p:cNvSpPr/>
          <p:nvPr/>
        </p:nvSpPr>
        <p:spPr>
          <a:xfrm>
            <a:off x="8857200" y="3000000"/>
            <a:ext cx="1800000" cy="560000"/>
          </a:xfrm>
          <a:prstGeom prst="homePlate">
            <a:avLst>
              <a:gd name="adj" fmla="val 30000"/>
            </a:avLst>
          </a:prstGeom>
          <a:solidFill>
            <a:srgbClr val="1B2A4A"/>
          </a:solidFill>
          <a:ln>
            <a:noFill/>
          </a:ln>
        </p:spPr>
        <p:txBody>
          <a:bodyPr wrap="square" lIns="45720" tIns="22860" rIns="45720" bIns="2286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400" dirty="0"/>
          </a:p>
        </p:txBody>
      </p:sp>
      <p:sp>
        <p:nvSpPr>
          <p:cNvPr id="16" name="Text 16"/>
          <p:cNvSpPr/>
          <p:nvPr/>
        </p:nvSpPr>
        <p:spPr>
          <a:xfrm>
            <a:off x="457200" y="37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solves the problem</a:t>
            </a:r>
            <a:endParaRPr lang="en-US" sz="2000" dirty="0"/>
          </a:p>
        </p:txBody>
      </p:sp>
      <p:sp>
        <p:nvSpPr>
          <p:cNvPr id="17" name="Text 17"/>
          <p:cNvSpPr/>
          <p:nvPr/>
        </p:nvSpPr>
        <p:spPr>
          <a:xfrm>
            <a:off x="457200" y="4130000"/>
            <a:ext cx="102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fusion: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soil moisture, tilt &amp; terrain feed a Random Forest risk engine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shows rain, soil, slope &amp; creep stress behind every alert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warning: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hazard map, vulnerable-first SMS/WhatsApp alerts, siren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routing: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residents away from landslide runout paths to shelters</a:t>
            </a:r>
            <a:endParaRPr lang="en-US" sz="1600" dirty="0"/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Accountable &amp; private: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AM SAFE” live headcount, anonymous IDs, zero biometric storage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Block Diagram</a:t>
            </a:r>
            <a:endParaRPr lang="en-US" sz="2600" dirty="0"/>
          </a:p>
        </p:txBody>
      </p:sp>
      <p:sp>
        <p:nvSpPr>
          <p:cNvPr id="9" name="Text 9"/>
          <p:cNvSpPr/>
          <p:nvPr/>
        </p:nvSpPr>
        <p:spPr>
          <a:xfrm>
            <a:off x="457200" y="1960000"/>
            <a:ext cx="42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REAL DATA &amp; SENSOR INPUT</a:t>
            </a:r>
            <a:endParaRPr lang="en-US" sz="1100" dirty="0"/>
          </a:p>
        </p:txBody>
      </p:sp>
      <p:sp>
        <p:nvSpPr>
          <p:cNvPr id="10" name="Block 10"/>
          <p:cNvSpPr/>
          <p:nvPr/>
        </p:nvSpPr>
        <p:spPr>
          <a:xfrm>
            <a:off x="457200" y="2200000"/>
            <a:ext cx="240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3A8B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temp, humidity</a:t>
            </a:r>
            <a:endParaRPr lang="en-US" sz="1100" dirty="0"/>
          </a:p>
        </p:txBody>
      </p:sp>
      <p:sp>
        <p:nvSpPr>
          <p:cNvPr id="11" name="Block 11"/>
          <p:cNvSpPr/>
          <p:nvPr/>
        </p:nvSpPr>
        <p:spPr>
          <a:xfrm>
            <a:off x="3057200" y="2200000"/>
            <a:ext cx="240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3A8B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Seismic tremors</a:t>
            </a:r>
            <a:endParaRPr lang="en-US" sz="1100" dirty="0"/>
          </a:p>
        </p:txBody>
      </p:sp>
      <p:sp>
        <p:nvSpPr>
          <p:cNvPr id="12" name="Block 12"/>
          <p:cNvSpPr/>
          <p:nvPr/>
        </p:nvSpPr>
        <p:spPr>
          <a:xfrm>
            <a:off x="5657200" y="2200000"/>
            <a:ext cx="240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3A8B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SRTM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 slope &amp; elevation</a:t>
            </a:r>
            <a:endParaRPr lang="en-US" sz="1100" dirty="0"/>
          </a:p>
        </p:txBody>
      </p:sp>
      <p:sp>
        <p:nvSpPr>
          <p:cNvPr id="13" name="Block 13"/>
          <p:cNvSpPr/>
          <p:nvPr/>
        </p:nvSpPr>
        <p:spPr>
          <a:xfrm>
            <a:off x="8257200" y="2200000"/>
            <a:ext cx="240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3A8B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nodes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inclinometer</a:t>
            </a:r>
            <a:endParaRPr lang="en-US" sz="1100" dirty="0"/>
          </a:p>
        </p:txBody>
      </p:sp>
      <p:cxnSp>
        <p:nvCxnSpPr>
          <p:cNvPr id="14" name="Arrow 14"/>
          <p:cNvCxnSpPr/>
          <p:nvPr/>
        </p:nvCxnSpPr>
        <p:spPr>
          <a:xfrm>
            <a:off x="5557200" y="2920000"/>
            <a:ext cx="0" cy="32000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15" name="Text 15"/>
          <p:cNvSpPr/>
          <p:nvPr/>
        </p:nvSpPr>
        <p:spPr>
          <a:xfrm>
            <a:off x="457200" y="3010000"/>
            <a:ext cx="42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16" name="Text 16"/>
          <p:cNvSpPr/>
          <p:nvPr/>
        </p:nvSpPr>
        <p:spPr>
          <a:xfrm>
            <a:off x="457200" y="3260000"/>
            <a:ext cx="42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FASTAPI PROCESSING CORE</a:t>
            </a:r>
            <a:endParaRPr lang="en-US" sz="1100" dirty="0"/>
          </a:p>
        </p:txBody>
      </p:sp>
      <p:sp>
        <p:nvSpPr>
          <p:cNvPr id="17" name="Block 17"/>
          <p:cNvSpPr/>
          <p:nvPr/>
        </p:nvSpPr>
        <p:spPr>
          <a:xfrm>
            <a:off x="457200" y="3500000"/>
            <a:ext cx="1800000" cy="880000"/>
          </a:xfrm>
          <a:prstGeom prst="roundRect">
            <a:avLst>
              <a:gd name="adj" fmla="val 8000"/>
            </a:avLst>
          </a:prstGeom>
          <a:solidFill>
            <a:srgbClr val="1B3A8B"/>
          </a:solidFill>
          <a:ln w="19050">
            <a:solidFill>
              <a:srgbClr val="1B2A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30 s / webhook</a:t>
            </a:r>
            <a:endParaRPr lang="en-US" sz="1100" dirty="0"/>
          </a:p>
        </p:txBody>
      </p:sp>
      <p:cxnSp>
        <p:nvCxnSpPr>
          <p:cNvPr id="18" name="Arrow 18"/>
          <p:cNvCxnSpPr/>
          <p:nvPr/>
        </p:nvCxnSpPr>
        <p:spPr>
          <a:xfrm>
            <a:off x="2257200" y="3940000"/>
            <a:ext cx="300000" cy="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19" name="Block 19"/>
          <p:cNvSpPr/>
          <p:nvPr/>
        </p:nvSpPr>
        <p:spPr>
          <a:xfrm>
            <a:off x="2557200" y="3500000"/>
            <a:ext cx="1800000" cy="880000"/>
          </a:xfrm>
          <a:prstGeom prst="roundRect">
            <a:avLst>
              <a:gd name="adj" fmla="val 8000"/>
            </a:avLst>
          </a:prstGeom>
          <a:solidFill>
            <a:srgbClr val="1B3A8B"/>
          </a:solidFill>
          <a:ln w="19050">
            <a:solidFill>
              <a:srgbClr val="1B2A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Range, null, outlier</a:t>
            </a:r>
            <a:endParaRPr lang="en-US" sz="1100" dirty="0"/>
          </a:p>
        </p:txBody>
      </p:sp>
      <p:cxnSp>
        <p:nvCxnSpPr>
          <p:cNvPr id="20" name="Arrow 20"/>
          <p:cNvCxnSpPr/>
          <p:nvPr/>
        </p:nvCxnSpPr>
        <p:spPr>
          <a:xfrm>
            <a:off x="4357200" y="3940000"/>
            <a:ext cx="300000" cy="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21" name="Block 21"/>
          <p:cNvSpPr/>
          <p:nvPr/>
        </p:nvSpPr>
        <p:spPr>
          <a:xfrm>
            <a:off x="4657200" y="3500000"/>
            <a:ext cx="1800000" cy="880000"/>
          </a:xfrm>
          <a:prstGeom prst="roundRect">
            <a:avLst>
              <a:gd name="adj" fmla="val 8000"/>
            </a:avLst>
          </a:prstGeom>
          <a:solidFill>
            <a:srgbClr val="1B3A8B"/>
          </a:solidFill>
          <a:ln w="19050">
            <a:solidFill>
              <a:srgbClr val="1B2A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mapping</a:t>
            </a:r>
            <a:endParaRPr lang="en-US" sz="1100" dirty="0"/>
          </a:p>
        </p:txBody>
      </p:sp>
      <p:cxnSp>
        <p:nvCxnSpPr>
          <p:cNvPr id="22" name="Arrow 22"/>
          <p:cNvCxnSpPr/>
          <p:nvPr/>
        </p:nvCxnSpPr>
        <p:spPr>
          <a:xfrm>
            <a:off x="6457200" y="3940000"/>
            <a:ext cx="300000" cy="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23" name="Block 23"/>
          <p:cNvSpPr/>
          <p:nvPr/>
        </p:nvSpPr>
        <p:spPr>
          <a:xfrm>
            <a:off x="6757200" y="3500000"/>
            <a:ext cx="1800000" cy="880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9050">
            <a:solidFill>
              <a:srgbClr val="1B2A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Engine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Classifier + Regressor</a:t>
            </a:r>
            <a:endParaRPr lang="en-US" sz="1100" dirty="0"/>
          </a:p>
        </p:txBody>
      </p:sp>
      <p:cxnSp>
        <p:nvCxnSpPr>
          <p:cNvPr id="24" name="Arrow 24"/>
          <p:cNvCxnSpPr/>
          <p:nvPr/>
        </p:nvCxnSpPr>
        <p:spPr>
          <a:xfrm>
            <a:off x="8557200" y="3940000"/>
            <a:ext cx="300000" cy="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25" name="Block 25"/>
          <p:cNvSpPr/>
          <p:nvPr/>
        </p:nvSpPr>
        <p:spPr>
          <a:xfrm>
            <a:off x="8857200" y="3500000"/>
            <a:ext cx="1800000" cy="880000"/>
          </a:xfrm>
          <a:prstGeom prst="roundRect">
            <a:avLst>
              <a:gd name="adj" fmla="val 8000"/>
            </a:avLst>
          </a:prstGeom>
          <a:solidFill>
            <a:srgbClr val="1B3A8B"/>
          </a:solidFill>
          <a:ln w="19050">
            <a:solidFill>
              <a:srgbClr val="1B2A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Engine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Rain/soil/slope/tilt stress</a:t>
            </a:r>
            <a:endParaRPr lang="en-US" sz="1100" dirty="0"/>
          </a:p>
        </p:txBody>
      </p:sp>
      <p:cxnSp>
        <p:nvCxnSpPr>
          <p:cNvPr id="26" name="Arrow 26"/>
          <p:cNvCxnSpPr/>
          <p:nvPr/>
        </p:nvCxnSpPr>
        <p:spPr>
          <a:xfrm>
            <a:off x="5557200" y="4380000"/>
            <a:ext cx="0" cy="300000"/>
          </a:xfrm>
          <a:prstGeom prst="line">
            <a:avLst/>
          </a:prstGeom>
          <a:ln w="28575">
            <a:solidFill>
              <a:srgbClr val="1B3A8B"/>
            </a:solidFill>
            <a:tailEnd type="triangle" w="med" len="med"/>
          </a:ln>
        </p:spPr>
      </p:cxnSp>
      <p:sp>
        <p:nvSpPr>
          <p:cNvPr id="27" name="Text 27"/>
          <p:cNvSpPr/>
          <p:nvPr/>
        </p:nvSpPr>
        <p:spPr>
          <a:xfrm>
            <a:off x="457200" y="4430000"/>
            <a:ext cx="42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OUTPUTS</a:t>
            </a:r>
            <a:endParaRPr lang="en-US" sz="1100" dirty="0"/>
          </a:p>
        </p:txBody>
      </p:sp>
      <p:sp>
        <p:nvSpPr>
          <p:cNvPr id="28" name="Block 28"/>
          <p:cNvSpPr/>
          <p:nvPr/>
        </p:nvSpPr>
        <p:spPr>
          <a:xfrm>
            <a:off x="457200" y="4720000"/>
            <a:ext cx="2400000" cy="7600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9050">
            <a:solidFill>
              <a:srgbClr val="C9A9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Risk Map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zones &amp; shelters</a:t>
            </a:r>
            <a:endParaRPr lang="en-US" sz="1100" dirty="0"/>
          </a:p>
        </p:txBody>
      </p:sp>
      <p:sp>
        <p:nvSpPr>
          <p:cNvPr id="29" name="Block 29"/>
          <p:cNvSpPr/>
          <p:nvPr/>
        </p:nvSpPr>
        <p:spPr>
          <a:xfrm>
            <a:off x="3057200" y="4720000"/>
            <a:ext cx="2400000" cy="7600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9050">
            <a:solidFill>
              <a:srgbClr val="C9A9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Alerts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SMS, WhatsApp, siren</a:t>
            </a:r>
            <a:endParaRPr lang="en-US" sz="1100" dirty="0"/>
          </a:p>
        </p:txBody>
      </p:sp>
      <p:sp>
        <p:nvSpPr>
          <p:cNvPr id="30" name="Block 30"/>
          <p:cNvSpPr/>
          <p:nvPr/>
        </p:nvSpPr>
        <p:spPr>
          <a:xfrm>
            <a:off x="5657200" y="4720000"/>
            <a:ext cx="2400000" cy="7600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9050">
            <a:solidFill>
              <a:srgbClr val="C9A9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Routing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evacuation</a:t>
            </a:r>
            <a:endParaRPr lang="en-US" sz="1100" dirty="0"/>
          </a:p>
        </p:txBody>
      </p:sp>
      <p:sp>
        <p:nvSpPr>
          <p:cNvPr id="31" name="Block 31"/>
          <p:cNvSpPr/>
          <p:nvPr/>
        </p:nvSpPr>
        <p:spPr>
          <a:xfrm>
            <a:off x="8257200" y="4720000"/>
            <a:ext cx="2400000" cy="760000"/>
          </a:xfrm>
          <a:prstGeom prst="roundRect">
            <a:avLst>
              <a:gd name="adj" fmla="val 8000"/>
            </a:avLst>
          </a:prstGeom>
          <a:solidFill>
            <a:srgbClr val="FFF6DC"/>
          </a:solidFill>
          <a:ln w="19050">
            <a:solidFill>
              <a:srgbClr val="C9A94A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Portals</a:t>
            </a:r>
            <a:endParaRPr lang="en-US" sz="13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Resident, Tourist, Officer</a:t>
            </a:r>
            <a:endParaRPr lang="en-US" sz="1100" dirty="0"/>
          </a:p>
        </p:txBody>
      </p:sp>
      <p:sp>
        <p:nvSpPr>
          <p:cNvPr id="32" name="Privacy 32"/>
          <p:cNvSpPr/>
          <p:nvPr/>
        </p:nvSpPr>
        <p:spPr>
          <a:xfrm>
            <a:off x="457200" y="5620000"/>
            <a:ext cx="10200000" cy="5200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SECURITY LAYER:  RBAC  •  Anonymous IDs  •  Zone-level GPS  •  Audit log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Blocks</a:t>
            </a:r>
            <a:endParaRPr lang="en-US" sz="2600" dirty="0"/>
          </a:p>
        </p:txBody>
      </p:sp>
      <p:sp>
        <p:nvSpPr>
          <p:cNvPr id="9" name="Card 9"/>
          <p:cNvSpPr/>
          <p:nvPr/>
        </p:nvSpPr>
        <p:spPr>
          <a:xfrm>
            <a:off x="457200" y="2050000"/>
            <a:ext cx="3300000" cy="4100000"/>
          </a:xfrm>
          <a:prstGeom prst="roundRect">
            <a:avLst>
              <a:gd name="adj" fmla="val 35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0" name="Text 10"/>
          <p:cNvSpPr/>
          <p:nvPr/>
        </p:nvSpPr>
        <p:spPr>
          <a:xfrm>
            <a:off x="587200" y="2150000"/>
            <a:ext cx="304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9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Block</a:t>
            </a:r>
            <a:endParaRPr lang="en-US" sz="19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collect required data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Open-Meteo, USGS, SRTM and IoT tilt sensors.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chosen: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live feeds plus physical creep sensing.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can drop → quality checks and DEMO fallback.</a:t>
            </a:r>
            <a:endParaRPr lang="en-US" sz="1600" dirty="0"/>
          </a:p>
        </p:txBody>
      </p:sp>
      <p:sp>
        <p:nvSpPr>
          <p:cNvPr id="11" name="Card 11"/>
          <p:cNvSpPr/>
          <p:nvPr/>
        </p:nvSpPr>
        <p:spPr>
          <a:xfrm>
            <a:off x="3907200" y="2050000"/>
            <a:ext cx="3300000" cy="4100000"/>
          </a:xfrm>
          <a:prstGeom prst="roundRect">
            <a:avLst>
              <a:gd name="adj" fmla="val 35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2" name="Text 12"/>
          <p:cNvSpPr/>
          <p:nvPr/>
        </p:nvSpPr>
        <p:spPr>
          <a:xfrm>
            <a:off x="4037200" y="2150000"/>
            <a:ext cx="304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9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Processing Block</a:t>
            </a:r>
            <a:endParaRPr lang="en-US" sz="19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analyze and process data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Validation, normalization, dual Random Forest and XAI.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chosen: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tabular-friendly and explainable stress split.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decision support, not geological certainty.</a:t>
            </a:r>
            <a:endParaRPr lang="en-US" sz="1600" dirty="0"/>
          </a:p>
        </p:txBody>
      </p:sp>
      <p:sp>
        <p:nvSpPr>
          <p:cNvPr id="13" name="Card 13"/>
          <p:cNvSpPr/>
          <p:nvPr/>
        </p:nvSpPr>
        <p:spPr>
          <a:xfrm>
            <a:off x="7357200" y="2050000"/>
            <a:ext cx="3300000" cy="4100000"/>
          </a:xfrm>
          <a:prstGeom prst="roundRect">
            <a:avLst>
              <a:gd name="adj" fmla="val 35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4" name="Text 14"/>
          <p:cNvSpPr/>
          <p:nvPr/>
        </p:nvSpPr>
        <p:spPr>
          <a:xfrm>
            <a:off x="7487200" y="2150000"/>
            <a:ext cx="304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9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Output Block</a:t>
            </a:r>
            <a:endParaRPr lang="en-US" sz="19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provide the final result</a:t>
            </a:r>
            <a:endParaRPr lang="en-US" sz="15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map, alerts, routes, headcount, role portals.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chosen: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sees only what safety needs.</a:t>
            </a:r>
            <a:endParaRPr lang="en-US"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</a:t>
            </a:r>
            <a:r>
              <a:rPr lang="en-US" sz="16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Zone-level view hides exact GPS; override is audit-logged.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RESULTS</a:t>
            </a:r>
            <a:endParaRPr lang="en-US" sz="2600" dirty="0"/>
          </a:p>
        </p:txBody>
      </p:sp>
      <p:sp>
        <p:nvSpPr>
          <p:cNvPr id="9" name="Text 9"/>
          <p:cNvSpPr/>
          <p:nvPr/>
        </p:nvSpPr>
        <p:spPr>
          <a:xfrm>
            <a:off x="457200" y="195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— NASA Global Landslide Catalog + GSI inventory (11,450 events)</a:t>
            </a:r>
            <a:endParaRPr lang="en-US" sz="1500" dirty="0"/>
          </a:p>
        </p:txBody>
      </p:sp>
      <p:sp>
        <p:nvSpPr>
          <p:cNvPr id="10" name="Stat 10"/>
          <p:cNvSpPr/>
          <p:nvPr/>
        </p:nvSpPr>
        <p:spPr>
          <a:xfrm>
            <a:off x="457200" y="2400000"/>
            <a:ext cx="1920000" cy="1400000"/>
          </a:xfrm>
          <a:prstGeom prst="roundRect">
            <a:avLst>
              <a:gd name="adj" fmla="val 8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88.4%</a:t>
            </a:r>
            <a:endParaRPr lang="en-US" sz="32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tat 11"/>
          <p:cNvSpPr/>
          <p:nvPr/>
        </p:nvSpPr>
        <p:spPr>
          <a:xfrm>
            <a:off x="2527200" y="2400000"/>
            <a:ext cx="1920000" cy="1400000"/>
          </a:xfrm>
          <a:prstGeom prst="roundRect">
            <a:avLst>
              <a:gd name="adj" fmla="val 8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32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Stat 12"/>
          <p:cNvSpPr/>
          <p:nvPr/>
        </p:nvSpPr>
        <p:spPr>
          <a:xfrm>
            <a:off x="4597200" y="2400000"/>
            <a:ext cx="1920000" cy="1400000"/>
          </a:xfrm>
          <a:prstGeom prst="roundRect">
            <a:avLst>
              <a:gd name="adj" fmla="val 8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89.1%</a:t>
            </a:r>
            <a:endParaRPr lang="en-US" sz="32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Stat 13"/>
          <p:cNvSpPr/>
          <p:nvPr/>
        </p:nvSpPr>
        <p:spPr>
          <a:xfrm>
            <a:off x="6667200" y="2400000"/>
            <a:ext cx="1920000" cy="1400000"/>
          </a:xfrm>
          <a:prstGeom prst="roundRect">
            <a:avLst>
              <a:gd name="adj" fmla="val 8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87.6%</a:t>
            </a:r>
            <a:endParaRPr lang="en-US" sz="32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4" name="Stat 14"/>
          <p:cNvSpPr/>
          <p:nvPr/>
        </p:nvSpPr>
        <p:spPr>
          <a:xfrm>
            <a:off x="8737200" y="2400000"/>
            <a:ext cx="1920000" cy="1400000"/>
          </a:xfrm>
          <a:prstGeom prst="roundRect">
            <a:avLst>
              <a:gd name="adj" fmla="val 8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0.924</a:t>
            </a:r>
            <a:endParaRPr lang="en-US" sz="32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400" dirty="0"/>
          </a:p>
        </p:txBody>
      </p:sp>
      <p:sp>
        <p:nvSpPr>
          <p:cNvPr id="15" name="Text 15"/>
          <p:cNvSpPr/>
          <p:nvPr/>
        </p:nvSpPr>
        <p:spPr>
          <a:xfrm>
            <a:off x="457200" y="405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tiers (Random Forest, 100 trees, depth 10)</a:t>
            </a:r>
            <a:endParaRPr lang="en-US" sz="1500" dirty="0"/>
          </a:p>
        </p:txBody>
      </p:sp>
      <p:sp>
        <p:nvSpPr>
          <p:cNvPr id="16" name="Tier 16"/>
          <p:cNvSpPr/>
          <p:nvPr/>
        </p:nvSpPr>
        <p:spPr>
          <a:xfrm>
            <a:off x="457200" y="4450000"/>
            <a:ext cx="3300000" cy="1000000"/>
          </a:xfrm>
          <a:prstGeom prst="roundRect">
            <a:avLst>
              <a:gd name="adj" fmla="val 10000"/>
            </a:avLst>
          </a:prstGeom>
          <a:solidFill>
            <a:srgbClr val="D8F0DC"/>
          </a:solidFill>
          <a:ln w="19050">
            <a:solidFill>
              <a:srgbClr val="2E7D32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 &lt;40%</a:t>
            </a: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stability</a:t>
            </a:r>
            <a:endParaRPr lang="en-US" sz="1400" dirty="0"/>
          </a:p>
        </p:txBody>
      </p:sp>
      <p:sp>
        <p:nvSpPr>
          <p:cNvPr id="17" name="Tier 17"/>
          <p:cNvSpPr/>
          <p:nvPr/>
        </p:nvSpPr>
        <p:spPr>
          <a:xfrm>
            <a:off x="3907200" y="4450000"/>
            <a:ext cx="3300000" cy="1000000"/>
          </a:xfrm>
          <a:prstGeom prst="roundRect">
            <a:avLst>
              <a:gd name="adj" fmla="val 10000"/>
            </a:avLst>
          </a:prstGeom>
          <a:solidFill>
            <a:srgbClr val="FFF1C9"/>
          </a:solidFill>
          <a:ln w="19050">
            <a:solidFill>
              <a:srgbClr val="B58100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 40–69.9%</a:t>
            </a: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Advisory, transit limits</a:t>
            </a:r>
            <a:endParaRPr lang="en-US" sz="1400" dirty="0"/>
          </a:p>
        </p:txBody>
      </p:sp>
      <p:sp>
        <p:nvSpPr>
          <p:cNvPr id="18" name="Tier 18"/>
          <p:cNvSpPr/>
          <p:nvPr/>
        </p:nvSpPr>
        <p:spPr>
          <a:xfrm>
            <a:off x="7357200" y="4450000"/>
            <a:ext cx="3300000" cy="1000000"/>
          </a:xfrm>
          <a:prstGeom prst="roundRect">
            <a:avLst>
              <a:gd name="adj" fmla="val 10000"/>
            </a:avLst>
          </a:prstGeom>
          <a:solidFill>
            <a:srgbClr val="F9D5D3"/>
          </a:solidFill>
          <a:ln w="19050">
            <a:solidFill>
              <a:srgbClr val="B3261E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 ≥70%</a:t>
            </a: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Siren &amp; evacuation</a:t>
            </a:r>
            <a:endParaRPr lang="en-US" sz="1400" dirty="0"/>
          </a:p>
        </p:txBody>
      </p:sp>
      <p:sp>
        <p:nvSpPr>
          <p:cNvPr id="19" name="Text 19"/>
          <p:cNvSpPr/>
          <p:nvPr/>
        </p:nvSpPr>
        <p:spPr>
          <a:xfrm>
            <a:off x="457200" y="5650000"/>
            <a:ext cx="102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Rapid-rise alert if risk jumps ≥ +18%. Outputs are decision-support probabilities, not deterministic certainty.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AND RESULTS</a:t>
            </a:r>
            <a:endParaRPr lang="en-US" sz="2600" dirty="0"/>
          </a:p>
        </p:txBody>
      </p:sp>
      <p:sp>
        <p:nvSpPr>
          <p:cNvPr id="9" name="Text 9"/>
          <p:cNvSpPr/>
          <p:nvPr/>
        </p:nvSpPr>
        <p:spPr>
          <a:xfrm>
            <a:off x="457200" y="1950000"/>
            <a:ext cx="10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outputs across demo scenarios: Normal → Heavy Rain → Critical Storm &amp; Creep</a:t>
            </a:r>
            <a:endParaRPr lang="en-US" sz="1500" dirty="0"/>
          </a:p>
        </p:txBody>
      </p:sp>
      <p:sp>
        <p:nvSpPr>
          <p:cNvPr id="10" name="Output 10"/>
          <p:cNvSpPr/>
          <p:nvPr/>
        </p:nvSpPr>
        <p:spPr>
          <a:xfrm>
            <a:off x="457200" y="240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Risk Map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hazard polygons, shelters and evacuation paths</a:t>
            </a:r>
            <a:endParaRPr lang="en-US" sz="1400" dirty="0"/>
          </a:p>
        </p:txBody>
      </p:sp>
      <p:sp>
        <p:nvSpPr>
          <p:cNvPr id="11" name="Output 11"/>
          <p:cNvSpPr/>
          <p:nvPr/>
        </p:nvSpPr>
        <p:spPr>
          <a:xfrm>
            <a:off x="3907200" y="240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Alerts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stress split: rain, soil, slope, creep</a:t>
            </a:r>
            <a:endParaRPr lang="en-US" sz="1400" dirty="0"/>
          </a:p>
        </p:txBody>
      </p:sp>
      <p:sp>
        <p:nvSpPr>
          <p:cNvPr id="12" name="Output 12"/>
          <p:cNvSpPr/>
          <p:nvPr/>
        </p:nvSpPr>
        <p:spPr>
          <a:xfrm>
            <a:off x="7357200" y="240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Warning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and WhatsApp previews, siren and chime</a:t>
            </a:r>
            <a:endParaRPr lang="en-US" sz="1400" dirty="0"/>
          </a:p>
        </p:txBody>
      </p:sp>
      <p:sp>
        <p:nvSpPr>
          <p:cNvPr id="13" name="Output 13"/>
          <p:cNvSpPr/>
          <p:nvPr/>
        </p:nvSpPr>
        <p:spPr>
          <a:xfrm>
            <a:off x="457200" y="425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Routes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occupancy and obstacle-avoiding routing</a:t>
            </a:r>
            <a:endParaRPr lang="en-US" sz="1400" dirty="0"/>
          </a:p>
        </p:txBody>
      </p:sp>
      <p:sp>
        <p:nvSpPr>
          <p:cNvPr id="14" name="Output 14"/>
          <p:cNvSpPr/>
          <p:nvPr/>
        </p:nvSpPr>
        <p:spPr>
          <a:xfrm>
            <a:off x="3907200" y="425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Accountability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/ In-transit / Unaccounted headcount</a:t>
            </a:r>
            <a:endParaRPr lang="en-US" sz="1400" dirty="0"/>
          </a:p>
        </p:txBody>
      </p:sp>
      <p:sp>
        <p:nvSpPr>
          <p:cNvPr id="15" name="Output 15"/>
          <p:cNvSpPr/>
          <p:nvPr/>
        </p:nvSpPr>
        <p:spPr>
          <a:xfrm>
            <a:off x="7357200" y="4250000"/>
            <a:ext cx="3300000" cy="17000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7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Zone-level view (Zone B: 6 at risk), IDs like RS-1042, audit log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/asset_top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50264" cy="1496568"/>
          </a:xfrm>
          <a:prstGeom prst="rect">
            <a:avLst/>
          </a:prstGeom>
        </p:spPr>
      </p:pic>
      <p:pic>
        <p:nvPicPr>
          <p:cNvPr id="3" name="Image 1" descr="/home/claude/extract/asset_bot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007" y="5269992"/>
            <a:ext cx="1313688" cy="1588008"/>
          </a:xfrm>
          <a:prstGeom prst="rect">
            <a:avLst/>
          </a:prstGeom>
        </p:spPr>
      </p:pic>
      <p:pic>
        <p:nvPicPr>
          <p:cNvPr id="4" name="Image 2" descr="/home/claude/extract/asset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559" y="109728"/>
            <a:ext cx="704088" cy="8991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73152"/>
            <a:ext cx="12191695" cy="868680"/>
          </a:xfrm>
          <a:prstGeom prst="rect">
            <a:avLst/>
          </a:prstGeom>
          <a:noFill/>
          <a:ln/>
          <a:effectLst>
            <a:outerShdw blurRad="12700" dist="25400" dir="2700000" algn="bl" rotWithShape="0">
              <a:srgbClr val="C9A94A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E-TRONIX'26</a:t>
            </a:r>
            <a:endParaRPr lang="en-US" sz="4400" dirty="0"/>
          </a:p>
        </p:txBody>
      </p:sp>
      <p:pic>
        <p:nvPicPr>
          <p:cNvPr id="6" name="Image 3" descr="/home/claude/extract/asset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097" y="2185416"/>
            <a:ext cx="3773424" cy="3090672"/>
          </a:xfrm>
          <a:prstGeom prst="rect">
            <a:avLst/>
          </a:prstGeom>
        </p:spPr>
      </p:pic>
      <p:sp>
        <p:nvSpPr>
          <p:cNvPr id="8" name="Text 8"/>
          <p:cNvSpPr/>
          <p:nvPr/>
        </p:nvSpPr>
        <p:spPr>
          <a:xfrm>
            <a:off x="457200" y="1480000"/>
            <a:ext cx="10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Card 9"/>
          <p:cNvSpPr/>
          <p:nvPr/>
        </p:nvSpPr>
        <p:spPr>
          <a:xfrm>
            <a:off x="457200" y="2050000"/>
            <a:ext cx="5000000" cy="3700000"/>
          </a:xfrm>
          <a:prstGeom prst="roundRect">
            <a:avLst>
              <a:gd name="adj" fmla="val 35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0" name="Card 10"/>
          <p:cNvSpPr/>
          <p:nvPr/>
        </p:nvSpPr>
        <p:spPr>
          <a:xfrm>
            <a:off x="5657200" y="2050000"/>
            <a:ext cx="5000000" cy="3700000"/>
          </a:xfrm>
          <a:prstGeom prst="roundRect">
            <a:avLst>
              <a:gd name="adj" fmla="val 3500"/>
            </a:avLst>
          </a:prstGeom>
          <a:solidFill>
            <a:srgbClr val="EEF6FD"/>
          </a:solidFill>
          <a:ln w="19050">
            <a:solidFill>
              <a:srgbClr val="1B3A8B"/>
            </a:solidFill>
          </a:ln>
        </p:spPr>
        <p:txBody>
          <a:bodyPr wrap="square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11" name="Text 11"/>
          <p:cNvSpPr/>
          <p:nvPr/>
        </p:nvSpPr>
        <p:spPr>
          <a:xfrm>
            <a:off x="607200" y="2150000"/>
            <a:ext cx="470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research</a:t>
            </a:r>
            <a:endParaRPr lang="en-US" sz="20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Global Landslide Catalog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model training (data.nasa.gov)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Geological Survey of India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slope disaster inventory (gsi.gov.in)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WMO API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live rain, temp, humidity (open-meteo.com)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Earthquake Feed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real-time GeoJSON (earthquake.usgs.gov)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SRTM 30 m DEM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slope &amp; elevation baseline</a:t>
            </a:r>
            <a:endParaRPr lang="en-US" sz="1500" dirty="0"/>
          </a:p>
        </p:txBody>
      </p:sp>
      <p:sp>
        <p:nvSpPr>
          <p:cNvPr id="12" name="Text 12"/>
          <p:cNvSpPr/>
          <p:nvPr/>
        </p:nvSpPr>
        <p:spPr>
          <a:xfrm>
            <a:off x="5807200" y="2150000"/>
            <a:ext cx="4700000" cy="3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0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HTML5, CSS3, Vanilla JS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Leaflet.js, OpenStreetMap, GeoJSON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Python, FastAPI, Pydantic, Uvicorn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Scikit-Learn, NumPy, Pandas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 Audio API sirens</a:t>
            </a:r>
            <a:endParaRPr lang="en-US" sz="1500" dirty="0"/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SzPct val="100000"/>
              <a:buChar char="•"/>
            </a:pPr>
            <a:r>
              <a:rPr lang="en-US" sz="15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r>
              <a:rPr lang="en-US" sz="1500" b="0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RBAC, anonymous IDs, audit logs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799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mgowres@outlook.com</cp:lastModifiedBy>
  <cp:revision>3</cp:revision>
  <dcterms:created xsi:type="dcterms:W3CDTF">2026-09-25T05:02:21Z</dcterms:created>
  <dcterms:modified xsi:type="dcterms:W3CDTF">2026-10-05T15:09:37Z</dcterms:modified>
</cp:coreProperties>
</file>